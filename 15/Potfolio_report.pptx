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 type="screen16x9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111" d="100"/>
          <a:sy n="111" d="100"/>
        </p:scale>
        <p:origin x="-96" y="-660"/>
      </p:cViewPr>
      <p:guideLst>
        <p:guide pos="1620" orient="horz"/>
        <p:guide pos="2880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4DE016-8493-EC63-1394-EAA0CA000F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52B0B1-5E8F-202A-7754-8C0D6CB57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D2314B-6B01-9898-89AA-AE6B7D77C41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3B30B0-4B45-6215-C41A-B082831ECCA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3FBBAF-20B9-CCE8-36C0-C513E44F0AE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C6511CB-891F-78FD-B2AF-4E8079D02A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BCA86-4B4C-A642-55A8-846E768A94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1306A9-4752-EE7F-7BE6-8FF4D4F688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7E63F2-CDE7-4198-041E-787F416EDC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B38DD-C68D-67B2-A55F-8C4E302B7A2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F5587D-7F8C-2325-ECCC-3D63EFCC23C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9CCB22-45E0-7504-8CAC-825C7ECD3B3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F7C4D2-A28B-0A21-7EA0-3FE4129322F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669362" name="Title 1"/>
          <p:cNvSpPr>
            <a:spLocks noGrp="1"/>
          </p:cNvSpPr>
          <p:nvPr>
            <p:ph type="ctrTitle"/>
          </p:nvPr>
        </p:nvSpPr>
        <p:spPr bwMode="auto">
          <a:xfrm>
            <a:off x="685800" y="1597819"/>
            <a:ext cx="7772400" cy="1102519"/>
          </a:xfrm>
        </p:spPr>
        <p:txBody>
          <a:bodyPr/>
          <a:lstStyle>
            <a:lvl1pPr algn="ctr">
              <a:defRPr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4567466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91076870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EB4D43-F783-4E09-8208-6AA351DBC29B}" type="datetimeFigureOut">
              <a:rPr lang="en-US"/>
              <a:t>22.10.2013</a:t>
            </a:fld>
            <a:endParaRPr lang="en-US"/>
          </a:p>
        </p:txBody>
      </p:sp>
      <p:sp>
        <p:nvSpPr>
          <p:cNvPr id="1558663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3050131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8E3F0E9-0FC2-4DDE-87CF-3BA6A04EA4C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98074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004016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198931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EB4D43-F783-4E09-8208-6AA351DBC29B}" type="datetimeFigureOut">
              <a:rPr lang="en-US"/>
              <a:t>22.10.2013</a:t>
            </a:fld>
            <a:endParaRPr lang="en-US"/>
          </a:p>
        </p:txBody>
      </p:sp>
      <p:sp>
        <p:nvSpPr>
          <p:cNvPr id="18723426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90822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8E3F0E9-0FC2-4DDE-87CF-3BA6A04EA4C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89225" name="Title 1"/>
          <p:cNvSpPr>
            <a:spLocks noGrp="1"/>
          </p:cNvSpPr>
          <p:nvPr>
            <p:ph type="title"/>
          </p:nvPr>
        </p:nvSpPr>
        <p:spPr bwMode="auto"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4133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3100729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EB4D43-F783-4E09-8208-6AA351DBC29B}" type="datetimeFigureOut">
              <a:rPr lang="en-US"/>
              <a:t>22.10.2013</a:t>
            </a:fld>
            <a:endParaRPr lang="en-US"/>
          </a:p>
        </p:txBody>
      </p:sp>
      <p:sp>
        <p:nvSpPr>
          <p:cNvPr id="18636404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45417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8E3F0E9-0FC2-4DDE-87CF-3BA6A04EA4C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475019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6364354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187624" y="1200151"/>
            <a:ext cx="3528392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9808963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932040" y="1200151"/>
            <a:ext cx="3754759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393099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EB4D43-F783-4E09-8208-6AA351DBC29B}" type="datetimeFigureOut">
              <a:rPr lang="en-US"/>
              <a:t>22.10.2013</a:t>
            </a:fld>
            <a:endParaRPr lang="en-US"/>
          </a:p>
        </p:txBody>
      </p:sp>
      <p:sp>
        <p:nvSpPr>
          <p:cNvPr id="52853364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6557096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8E3F0E9-0FC2-4DDE-87CF-3BA6A04EA4C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45436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8209237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187624" y="1151335"/>
            <a:ext cx="3528392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4777788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187624" y="1631156"/>
            <a:ext cx="3528392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7085954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860032" y="1151335"/>
            <a:ext cx="382676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0187504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860032" y="1631156"/>
            <a:ext cx="382676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8320069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EB4D43-F783-4E09-8208-6AA351DBC29B}" type="datetimeFigureOut">
              <a:rPr lang="en-US"/>
              <a:t>22.10.2013</a:t>
            </a:fld>
            <a:endParaRPr lang="en-US"/>
          </a:p>
        </p:txBody>
      </p:sp>
      <p:sp>
        <p:nvSpPr>
          <p:cNvPr id="189660557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0098777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8E3F0E9-0FC2-4DDE-87CF-3BA6A04EA4C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9284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354419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EB4D43-F783-4E09-8208-6AA351DBC29B}" type="datetimeFigureOut">
              <a:rPr lang="en-US"/>
              <a:t>22.10.2013</a:t>
            </a:fld>
            <a:endParaRPr lang="en-US"/>
          </a:p>
        </p:txBody>
      </p:sp>
      <p:sp>
        <p:nvSpPr>
          <p:cNvPr id="155603588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221259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8E3F0E9-0FC2-4DDE-87CF-3BA6A04EA4C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635506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EB4D43-F783-4E09-8208-6AA351DBC29B}" type="datetimeFigureOut">
              <a:rPr lang="en-US"/>
              <a:t>22.10.2013</a:t>
            </a:fld>
            <a:endParaRPr lang="en-US"/>
          </a:p>
        </p:txBody>
      </p:sp>
      <p:sp>
        <p:nvSpPr>
          <p:cNvPr id="183562377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1540945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8E3F0E9-0FC2-4DDE-87CF-3BA6A04EA4C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1112854" name="Title 1"/>
          <p:cNvSpPr>
            <a:spLocks noGrp="1"/>
          </p:cNvSpPr>
          <p:nvPr>
            <p:ph type="title"/>
          </p:nvPr>
        </p:nvSpPr>
        <p:spPr bwMode="auto">
          <a:xfrm>
            <a:off x="1187624" y="204787"/>
            <a:ext cx="2664295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85706912" name="Content Placeholder 2"/>
          <p:cNvSpPr>
            <a:spLocks noGrp="1"/>
          </p:cNvSpPr>
          <p:nvPr>
            <p:ph idx="1"/>
          </p:nvPr>
        </p:nvSpPr>
        <p:spPr bwMode="auto">
          <a:xfrm>
            <a:off x="3995936" y="204788"/>
            <a:ext cx="4690864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994023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187624" y="1076326"/>
            <a:ext cx="2664295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4242720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EB4D43-F783-4E09-8208-6AA351DBC29B}" type="datetimeFigureOut">
              <a:rPr lang="en-US"/>
              <a:t>22.10.2013</a:t>
            </a:fld>
            <a:endParaRPr lang="en-US"/>
          </a:p>
        </p:txBody>
      </p:sp>
      <p:sp>
        <p:nvSpPr>
          <p:cNvPr id="19842405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6229912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8E3F0E9-0FC2-4DDE-87CF-3BA6A04EA4C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88187" name="Title 1"/>
          <p:cNvSpPr>
            <a:spLocks noGrp="1"/>
          </p:cNvSpPr>
          <p:nvPr>
            <p:ph type="title"/>
          </p:nvPr>
        </p:nvSpPr>
        <p:spPr bwMode="auto">
          <a:xfrm>
            <a:off x="1187624" y="3600450"/>
            <a:ext cx="7488832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6197893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187624" y="459581"/>
            <a:ext cx="7488832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84871471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187624" y="4025503"/>
            <a:ext cx="7488832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7401360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EB4D43-F783-4E09-8208-6AA351DBC29B}" type="datetimeFigureOut">
              <a:rPr lang="en-US"/>
              <a:t>22.10.2013</a:t>
            </a:fld>
            <a:endParaRPr lang="en-US"/>
          </a:p>
        </p:txBody>
      </p:sp>
      <p:sp>
        <p:nvSpPr>
          <p:cNvPr id="187303545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4172522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8E3F0E9-0FC2-4DDE-87CF-3BA6A04EA4C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1749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3943232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2440074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EB4D43-F783-4E09-8208-6AA351DBC29B}" type="datetimeFigureOut">
              <a:rPr lang="en-US"/>
              <a:t>22.10.2013</a:t>
            </a:fld>
            <a:endParaRPr lang="en-US"/>
          </a:p>
        </p:txBody>
      </p:sp>
      <p:sp>
        <p:nvSpPr>
          <p:cNvPr id="658058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5105105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8E3F0E9-0FC2-4DDE-87CF-3BA6A04EA4C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55922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05979"/>
            <a:ext cx="2057400" cy="4388644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879017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05979"/>
            <a:ext cx="6019800" cy="4388644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8520648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EB4D43-F783-4E09-8208-6AA351DBC29B}" type="datetimeFigureOut">
              <a:rPr lang="en-US"/>
              <a:t>22.10.2013</a:t>
            </a:fld>
            <a:endParaRPr lang="en-US"/>
          </a:p>
        </p:txBody>
      </p:sp>
      <p:sp>
        <p:nvSpPr>
          <p:cNvPr id="7187521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79492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8E3F0E9-0FC2-4DDE-87CF-3BA6A04EA4C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497364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187624" y="1200151"/>
            <a:ext cx="7499176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88003486" name="Shape 1058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6343" y="6641"/>
                </a:moveTo>
                <a:lnTo>
                  <a:pt x="6343" y="6641"/>
                </a:lnTo>
                <a:cubicBezTo>
                  <a:pt x="7781" y="2374"/>
                  <a:pt x="8594" y="0"/>
                  <a:pt x="8594" y="0"/>
                </a:cubicBezTo>
                <a:lnTo>
                  <a:pt x="0" y="0"/>
                </a:lnTo>
                <a:lnTo>
                  <a:pt x="0" y="43200"/>
                </a:lnTo>
                <a:lnTo>
                  <a:pt x="43200" y="43200"/>
                </a:lnTo>
                <a:lnTo>
                  <a:pt x="43200" y="37760"/>
                </a:lnTo>
                <a:lnTo>
                  <a:pt x="43200" y="37760"/>
                </a:lnTo>
                <a:cubicBezTo>
                  <a:pt x="43200" y="37760"/>
                  <a:pt x="34824" y="39282"/>
                  <a:pt x="21228" y="41101"/>
                </a:cubicBezTo>
                <a:lnTo>
                  <a:pt x="21228" y="41101"/>
                </a:lnTo>
                <a:cubicBezTo>
                  <a:pt x="3446" y="43478"/>
                  <a:pt x="-5241" y="41016"/>
                  <a:pt x="6343" y="6641"/>
                </a:cubicBezTo>
                <a:close/>
              </a:path>
            </a:pathLst>
          </a:custGeom>
          <a:solidFill>
            <a:schemeClr val="accent1"/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00923025" name="Shape 1059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</p:spPr>
      </p:sp>
      <p:sp>
        <p:nvSpPr>
          <p:cNvPr id="708943806" name="Shape 1060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361" y="36777"/>
                </a:moveTo>
                <a:lnTo>
                  <a:pt x="22361" y="36777"/>
                </a:lnTo>
                <a:cubicBezTo>
                  <a:pt x="5219" y="39070"/>
                  <a:pt x="-2372" y="36412"/>
                  <a:pt x="7775" y="6299"/>
                </a:cubicBezTo>
                <a:lnTo>
                  <a:pt x="7775" y="6299"/>
                </a:lnTo>
                <a:cubicBezTo>
                  <a:pt x="9119" y="2311"/>
                  <a:pt x="9892" y="58"/>
                  <a:pt x="9911" y="0"/>
                </a:cubicBezTo>
                <a:lnTo>
                  <a:pt x="8597" y="0"/>
                </a:lnTo>
                <a:lnTo>
                  <a:pt x="8597" y="0"/>
                </a:lnTo>
                <a:cubicBezTo>
                  <a:pt x="8597" y="0"/>
                  <a:pt x="7784" y="2374"/>
                  <a:pt x="6346" y="6641"/>
                </a:cubicBezTo>
                <a:lnTo>
                  <a:pt x="6346" y="6641"/>
                </a:lnTo>
                <a:cubicBezTo>
                  <a:pt x="-5238" y="41016"/>
                  <a:pt x="3448" y="43478"/>
                  <a:pt x="21229" y="41101"/>
                </a:cubicBezTo>
                <a:lnTo>
                  <a:pt x="21229" y="41101"/>
                </a:lnTo>
                <a:cubicBezTo>
                  <a:pt x="34825" y="39282"/>
                  <a:pt x="43200" y="37760"/>
                  <a:pt x="43200" y="37760"/>
                </a:cubicBezTo>
                <a:lnTo>
                  <a:pt x="43200" y="33612"/>
                </a:lnTo>
                <a:lnTo>
                  <a:pt x="43200" y="33612"/>
                </a:lnTo>
                <a:cubicBezTo>
                  <a:pt x="43110" y="33630"/>
                  <a:pt x="35168" y="35065"/>
                  <a:pt x="22361" y="36777"/>
                </a:cubicBezTo>
                <a:close/>
              </a:path>
            </a:pathLst>
          </a:custGeom>
          <a:solidFill>
            <a:schemeClr val="accent1">
              <a:alpha val="9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07782112" name="Shape 1061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276" y="37156"/>
                </a:moveTo>
                <a:lnTo>
                  <a:pt x="22276" y="37156"/>
                </a:lnTo>
                <a:cubicBezTo>
                  <a:pt x="5093" y="39454"/>
                  <a:pt x="-2596" y="36819"/>
                  <a:pt x="7680" y="6325"/>
                </a:cubicBezTo>
                <a:lnTo>
                  <a:pt x="7680" y="6325"/>
                </a:lnTo>
                <a:cubicBezTo>
                  <a:pt x="9010" y="2380"/>
                  <a:pt x="9781" y="117"/>
                  <a:pt x="9819" y="0"/>
                </a:cubicBezTo>
                <a:lnTo>
                  <a:pt x="8597" y="0"/>
                </a:lnTo>
                <a:lnTo>
                  <a:pt x="8597" y="0"/>
                </a:lnTo>
                <a:cubicBezTo>
                  <a:pt x="8597" y="0"/>
                  <a:pt x="7784" y="2374"/>
                  <a:pt x="6346" y="6641"/>
                </a:cubicBezTo>
                <a:lnTo>
                  <a:pt x="6346" y="6641"/>
                </a:lnTo>
                <a:cubicBezTo>
                  <a:pt x="-5238" y="41016"/>
                  <a:pt x="3448" y="43478"/>
                  <a:pt x="21229" y="41101"/>
                </a:cubicBezTo>
                <a:lnTo>
                  <a:pt x="21229" y="41101"/>
                </a:lnTo>
                <a:cubicBezTo>
                  <a:pt x="34825" y="39282"/>
                  <a:pt x="43200" y="37760"/>
                  <a:pt x="43200" y="37760"/>
                </a:cubicBezTo>
                <a:lnTo>
                  <a:pt x="43200" y="33980"/>
                </a:lnTo>
                <a:lnTo>
                  <a:pt x="43200" y="33980"/>
                </a:lnTo>
                <a:cubicBezTo>
                  <a:pt x="43020" y="34016"/>
                  <a:pt x="35046" y="35449"/>
                  <a:pt x="22276" y="37156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698542385" name="Shape 1062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92" y="37535"/>
                </a:moveTo>
                <a:lnTo>
                  <a:pt x="22192" y="37535"/>
                </a:lnTo>
                <a:cubicBezTo>
                  <a:pt x="4968" y="39839"/>
                  <a:pt x="-2820" y="37226"/>
                  <a:pt x="7585" y="6350"/>
                </a:cubicBezTo>
                <a:lnTo>
                  <a:pt x="7585" y="6350"/>
                </a:lnTo>
                <a:cubicBezTo>
                  <a:pt x="8900" y="2448"/>
                  <a:pt x="9670" y="176"/>
                  <a:pt x="9726" y="0"/>
                </a:cubicBezTo>
                <a:lnTo>
                  <a:pt x="8597" y="0"/>
                </a:lnTo>
                <a:lnTo>
                  <a:pt x="8597" y="0"/>
                </a:lnTo>
                <a:cubicBezTo>
                  <a:pt x="8597" y="0"/>
                  <a:pt x="7784" y="2374"/>
                  <a:pt x="6346" y="6641"/>
                </a:cubicBezTo>
                <a:lnTo>
                  <a:pt x="6346" y="6641"/>
                </a:lnTo>
                <a:cubicBezTo>
                  <a:pt x="-5238" y="41016"/>
                  <a:pt x="3448" y="43478"/>
                  <a:pt x="21229" y="41101"/>
                </a:cubicBezTo>
                <a:lnTo>
                  <a:pt x="21229" y="41101"/>
                </a:lnTo>
                <a:cubicBezTo>
                  <a:pt x="34825" y="39282"/>
                  <a:pt x="43200" y="37760"/>
                  <a:pt x="43200" y="37760"/>
                </a:cubicBezTo>
                <a:lnTo>
                  <a:pt x="43200" y="34348"/>
                </a:lnTo>
                <a:lnTo>
                  <a:pt x="43200" y="34348"/>
                </a:lnTo>
                <a:cubicBezTo>
                  <a:pt x="42885" y="34402"/>
                  <a:pt x="34924" y="35833"/>
                  <a:pt x="22192" y="37535"/>
                </a:cubicBezTo>
                <a:close/>
              </a:path>
            </a:pathLst>
          </a:custGeom>
          <a:solidFill>
            <a:schemeClr val="accent1">
              <a:alpha val="26999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642275708" name="Shape 1063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07" y="37914"/>
                </a:moveTo>
                <a:lnTo>
                  <a:pt x="22107" y="37914"/>
                </a:lnTo>
                <a:cubicBezTo>
                  <a:pt x="4842" y="40223"/>
                  <a:pt x="-3044" y="37634"/>
                  <a:pt x="7490" y="6376"/>
                </a:cubicBezTo>
                <a:lnTo>
                  <a:pt x="7490" y="6376"/>
                </a:lnTo>
                <a:cubicBezTo>
                  <a:pt x="8790" y="2517"/>
                  <a:pt x="9559" y="235"/>
                  <a:pt x="9634" y="0"/>
                </a:cubicBezTo>
                <a:lnTo>
                  <a:pt x="8597" y="0"/>
                </a:lnTo>
                <a:lnTo>
                  <a:pt x="8597" y="0"/>
                </a:lnTo>
                <a:cubicBezTo>
                  <a:pt x="8597" y="0"/>
                  <a:pt x="7784" y="2374"/>
                  <a:pt x="6346" y="6641"/>
                </a:cubicBezTo>
                <a:lnTo>
                  <a:pt x="6346" y="6641"/>
                </a:lnTo>
                <a:cubicBezTo>
                  <a:pt x="-5238" y="41016"/>
                  <a:pt x="3448" y="43478"/>
                  <a:pt x="21229" y="41101"/>
                </a:cubicBezTo>
                <a:lnTo>
                  <a:pt x="21229" y="41101"/>
                </a:lnTo>
                <a:cubicBezTo>
                  <a:pt x="34825" y="39282"/>
                  <a:pt x="43200" y="37760"/>
                  <a:pt x="43200" y="37760"/>
                </a:cubicBezTo>
                <a:lnTo>
                  <a:pt x="43200" y="34717"/>
                </a:lnTo>
                <a:lnTo>
                  <a:pt x="43200" y="34717"/>
                </a:lnTo>
                <a:cubicBezTo>
                  <a:pt x="42795" y="34789"/>
                  <a:pt x="34802" y="36217"/>
                  <a:pt x="22107" y="37914"/>
                </a:cubicBezTo>
                <a:close/>
              </a:path>
            </a:pathLst>
          </a:custGeom>
          <a:solidFill>
            <a:schemeClr val="accent1">
              <a:alpha val="36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67730449" name="Shape 1064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022" y="38293"/>
                </a:moveTo>
                <a:lnTo>
                  <a:pt x="22022" y="38293"/>
                </a:lnTo>
                <a:cubicBezTo>
                  <a:pt x="4717" y="40608"/>
                  <a:pt x="-3267" y="38041"/>
                  <a:pt x="7394" y="6401"/>
                </a:cubicBezTo>
                <a:lnTo>
                  <a:pt x="7394" y="6401"/>
                </a:lnTo>
                <a:cubicBezTo>
                  <a:pt x="8680" y="2586"/>
                  <a:pt x="9448" y="293"/>
                  <a:pt x="9542" y="0"/>
                </a:cubicBezTo>
                <a:lnTo>
                  <a:pt x="8597" y="0"/>
                </a:lnTo>
                <a:lnTo>
                  <a:pt x="8597" y="0"/>
                </a:lnTo>
                <a:cubicBezTo>
                  <a:pt x="8597" y="0"/>
                  <a:pt x="7784" y="2374"/>
                  <a:pt x="6346" y="6641"/>
                </a:cubicBezTo>
                <a:lnTo>
                  <a:pt x="6346" y="6641"/>
                </a:lnTo>
                <a:cubicBezTo>
                  <a:pt x="-5238" y="41016"/>
                  <a:pt x="3448" y="43478"/>
                  <a:pt x="21229" y="41101"/>
                </a:cubicBezTo>
                <a:lnTo>
                  <a:pt x="21229" y="41101"/>
                </a:lnTo>
                <a:cubicBezTo>
                  <a:pt x="34825" y="39282"/>
                  <a:pt x="43200" y="37760"/>
                  <a:pt x="43200" y="37760"/>
                </a:cubicBezTo>
                <a:lnTo>
                  <a:pt x="43200" y="35085"/>
                </a:lnTo>
                <a:lnTo>
                  <a:pt x="43200" y="35085"/>
                </a:lnTo>
                <a:cubicBezTo>
                  <a:pt x="42705" y="35175"/>
                  <a:pt x="34680" y="36601"/>
                  <a:pt x="22022" y="38293"/>
                </a:cubicBezTo>
                <a:close/>
              </a:path>
            </a:pathLst>
          </a:custGeom>
          <a:solidFill>
            <a:schemeClr val="accent1">
              <a:alpha val="4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697386014" name="Shape 1065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937" y="38673"/>
                </a:moveTo>
                <a:lnTo>
                  <a:pt x="21937" y="38673"/>
                </a:lnTo>
                <a:cubicBezTo>
                  <a:pt x="4591" y="40992"/>
                  <a:pt x="-3491" y="38448"/>
                  <a:pt x="7299" y="6427"/>
                </a:cubicBezTo>
                <a:lnTo>
                  <a:pt x="7299" y="6427"/>
                </a:lnTo>
                <a:cubicBezTo>
                  <a:pt x="8570" y="2655"/>
                  <a:pt x="9336" y="352"/>
                  <a:pt x="9449" y="0"/>
                </a:cubicBezTo>
                <a:lnTo>
                  <a:pt x="8597" y="0"/>
                </a:lnTo>
                <a:lnTo>
                  <a:pt x="8597" y="0"/>
                </a:lnTo>
                <a:cubicBezTo>
                  <a:pt x="8597" y="0"/>
                  <a:pt x="7784" y="2374"/>
                  <a:pt x="6346" y="6641"/>
                </a:cubicBezTo>
                <a:lnTo>
                  <a:pt x="6346" y="6641"/>
                </a:lnTo>
                <a:cubicBezTo>
                  <a:pt x="-5238" y="41016"/>
                  <a:pt x="3448" y="43478"/>
                  <a:pt x="21229" y="41101"/>
                </a:cubicBezTo>
                <a:lnTo>
                  <a:pt x="21229" y="41101"/>
                </a:lnTo>
                <a:cubicBezTo>
                  <a:pt x="34825" y="39282"/>
                  <a:pt x="43200" y="37760"/>
                  <a:pt x="43200" y="37760"/>
                </a:cubicBezTo>
                <a:lnTo>
                  <a:pt x="43200" y="35453"/>
                </a:lnTo>
                <a:lnTo>
                  <a:pt x="43200" y="35453"/>
                </a:lnTo>
                <a:cubicBezTo>
                  <a:pt x="42570" y="35561"/>
                  <a:pt x="34558" y="36985"/>
                  <a:pt x="21937" y="38673"/>
                </a:cubicBezTo>
                <a:close/>
              </a:path>
            </a:pathLst>
          </a:custGeom>
          <a:solidFill>
            <a:schemeClr val="accent1">
              <a:alpha val="5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695369755" name="Shape 1066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853" y="39052"/>
                </a:moveTo>
                <a:lnTo>
                  <a:pt x="21853" y="39052"/>
                </a:lnTo>
                <a:cubicBezTo>
                  <a:pt x="4466" y="41377"/>
                  <a:pt x="-3715" y="38855"/>
                  <a:pt x="7204" y="6453"/>
                </a:cubicBezTo>
                <a:lnTo>
                  <a:pt x="7204" y="6453"/>
                </a:lnTo>
                <a:cubicBezTo>
                  <a:pt x="8461" y="2724"/>
                  <a:pt x="9225" y="411"/>
                  <a:pt x="9357" y="0"/>
                </a:cubicBezTo>
                <a:lnTo>
                  <a:pt x="8597" y="0"/>
                </a:lnTo>
                <a:lnTo>
                  <a:pt x="8597" y="0"/>
                </a:lnTo>
                <a:cubicBezTo>
                  <a:pt x="8597" y="0"/>
                  <a:pt x="7784" y="2374"/>
                  <a:pt x="6346" y="6641"/>
                </a:cubicBezTo>
                <a:lnTo>
                  <a:pt x="6346" y="6641"/>
                </a:lnTo>
                <a:cubicBezTo>
                  <a:pt x="-5238" y="41016"/>
                  <a:pt x="3448" y="43478"/>
                  <a:pt x="21229" y="41101"/>
                </a:cubicBezTo>
                <a:lnTo>
                  <a:pt x="21229" y="41101"/>
                </a:lnTo>
                <a:cubicBezTo>
                  <a:pt x="34825" y="39282"/>
                  <a:pt x="43200" y="37760"/>
                  <a:pt x="43200" y="37760"/>
                </a:cubicBezTo>
                <a:lnTo>
                  <a:pt x="43200" y="35822"/>
                </a:lnTo>
                <a:lnTo>
                  <a:pt x="43200" y="35822"/>
                </a:lnTo>
                <a:cubicBezTo>
                  <a:pt x="42480" y="35948"/>
                  <a:pt x="34436" y="37369"/>
                  <a:pt x="21853" y="39052"/>
                </a:cubicBezTo>
                <a:close/>
              </a:path>
            </a:pathLst>
          </a:custGeom>
          <a:solidFill>
            <a:schemeClr val="accent1">
              <a:alpha val="63999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453908190" name="Shape 1067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768" y="39431"/>
                </a:moveTo>
                <a:lnTo>
                  <a:pt x="21768" y="39431"/>
                </a:lnTo>
                <a:cubicBezTo>
                  <a:pt x="4340" y="41761"/>
                  <a:pt x="-3939" y="39262"/>
                  <a:pt x="7109" y="6478"/>
                </a:cubicBezTo>
                <a:lnTo>
                  <a:pt x="7109" y="6478"/>
                </a:lnTo>
                <a:cubicBezTo>
                  <a:pt x="8351" y="2792"/>
                  <a:pt x="9114" y="470"/>
                  <a:pt x="9265" y="0"/>
                </a:cubicBezTo>
                <a:lnTo>
                  <a:pt x="8597" y="0"/>
                </a:lnTo>
                <a:lnTo>
                  <a:pt x="8597" y="0"/>
                </a:lnTo>
                <a:cubicBezTo>
                  <a:pt x="8597" y="0"/>
                  <a:pt x="7784" y="2374"/>
                  <a:pt x="6346" y="6641"/>
                </a:cubicBezTo>
                <a:lnTo>
                  <a:pt x="6346" y="6641"/>
                </a:lnTo>
                <a:cubicBezTo>
                  <a:pt x="-5238" y="41016"/>
                  <a:pt x="3448" y="43478"/>
                  <a:pt x="21229" y="41101"/>
                </a:cubicBezTo>
                <a:lnTo>
                  <a:pt x="21229" y="41101"/>
                </a:lnTo>
                <a:cubicBezTo>
                  <a:pt x="34825" y="39282"/>
                  <a:pt x="43200" y="37760"/>
                  <a:pt x="43200" y="37760"/>
                </a:cubicBezTo>
                <a:lnTo>
                  <a:pt x="43200" y="36190"/>
                </a:lnTo>
                <a:lnTo>
                  <a:pt x="43200" y="36190"/>
                </a:lnTo>
                <a:cubicBezTo>
                  <a:pt x="42390" y="36334"/>
                  <a:pt x="34314" y="37753"/>
                  <a:pt x="21768" y="39431"/>
                </a:cubicBezTo>
                <a:close/>
              </a:path>
            </a:pathLst>
          </a:custGeom>
          <a:solidFill>
            <a:schemeClr val="accent1">
              <a:alpha val="73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50410875" name="Shape 1068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83" y="39810"/>
                </a:moveTo>
                <a:lnTo>
                  <a:pt x="21683" y="39810"/>
                </a:lnTo>
                <a:cubicBezTo>
                  <a:pt x="4214" y="42146"/>
                  <a:pt x="-4163" y="39669"/>
                  <a:pt x="7014" y="6504"/>
                </a:cubicBezTo>
                <a:lnTo>
                  <a:pt x="7014" y="6504"/>
                </a:lnTo>
                <a:cubicBezTo>
                  <a:pt x="8241" y="2861"/>
                  <a:pt x="9003" y="528"/>
                  <a:pt x="9172" y="0"/>
                </a:cubicBezTo>
                <a:lnTo>
                  <a:pt x="8597" y="0"/>
                </a:lnTo>
                <a:lnTo>
                  <a:pt x="8597" y="0"/>
                </a:lnTo>
                <a:cubicBezTo>
                  <a:pt x="8597" y="0"/>
                  <a:pt x="7784" y="2374"/>
                  <a:pt x="6346" y="6641"/>
                </a:cubicBezTo>
                <a:lnTo>
                  <a:pt x="6346" y="6641"/>
                </a:lnTo>
                <a:cubicBezTo>
                  <a:pt x="-5238" y="41016"/>
                  <a:pt x="3448" y="43478"/>
                  <a:pt x="21229" y="41101"/>
                </a:cubicBezTo>
                <a:lnTo>
                  <a:pt x="21229" y="41101"/>
                </a:lnTo>
                <a:cubicBezTo>
                  <a:pt x="34825" y="39282"/>
                  <a:pt x="43200" y="37760"/>
                  <a:pt x="43200" y="37760"/>
                </a:cubicBezTo>
                <a:lnTo>
                  <a:pt x="43200" y="36558"/>
                </a:lnTo>
                <a:lnTo>
                  <a:pt x="43200" y="36558"/>
                </a:lnTo>
                <a:cubicBezTo>
                  <a:pt x="42300" y="36720"/>
                  <a:pt x="34192" y="38137"/>
                  <a:pt x="21683" y="39810"/>
                </a:cubicBezTo>
                <a:close/>
              </a:path>
            </a:pathLst>
          </a:custGeom>
          <a:solidFill>
            <a:schemeClr val="accent1">
              <a:alpha val="82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07316852" name="Shape 1069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599" y="40189"/>
                </a:moveTo>
                <a:lnTo>
                  <a:pt x="21599" y="40189"/>
                </a:lnTo>
                <a:cubicBezTo>
                  <a:pt x="4089" y="42530"/>
                  <a:pt x="-4386" y="40077"/>
                  <a:pt x="6918" y="6529"/>
                </a:cubicBezTo>
                <a:lnTo>
                  <a:pt x="6918" y="6529"/>
                </a:lnTo>
                <a:cubicBezTo>
                  <a:pt x="8131" y="2930"/>
                  <a:pt x="8892" y="587"/>
                  <a:pt x="9080" y="0"/>
                </a:cubicBezTo>
                <a:lnTo>
                  <a:pt x="8597" y="0"/>
                </a:lnTo>
                <a:lnTo>
                  <a:pt x="8597" y="0"/>
                </a:lnTo>
                <a:cubicBezTo>
                  <a:pt x="8597" y="0"/>
                  <a:pt x="7784" y="2374"/>
                  <a:pt x="6346" y="6641"/>
                </a:cubicBezTo>
                <a:lnTo>
                  <a:pt x="6346" y="6641"/>
                </a:lnTo>
                <a:cubicBezTo>
                  <a:pt x="-5238" y="41016"/>
                  <a:pt x="3448" y="43478"/>
                  <a:pt x="21229" y="41101"/>
                </a:cubicBezTo>
                <a:lnTo>
                  <a:pt x="21229" y="41101"/>
                </a:lnTo>
                <a:cubicBezTo>
                  <a:pt x="34825" y="39282"/>
                  <a:pt x="43200" y="37760"/>
                  <a:pt x="43200" y="37760"/>
                </a:cubicBezTo>
                <a:lnTo>
                  <a:pt x="43200" y="36926"/>
                </a:lnTo>
                <a:lnTo>
                  <a:pt x="43200" y="36926"/>
                </a:lnTo>
                <a:cubicBezTo>
                  <a:pt x="42165" y="37107"/>
                  <a:pt x="34070" y="38521"/>
                  <a:pt x="21599" y="40189"/>
                </a:cubicBezTo>
                <a:close/>
              </a:path>
            </a:pathLst>
          </a:custGeom>
          <a:solidFill>
            <a:schemeClr val="accent1">
              <a:alpha val="91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11534956" name="Shape 1070"/>
          <p:cNvSpPr>
            <a:spLocks noChangeArrowheads="1" noGrp="1"/>
          </p:cNvSpPr>
          <p:nvPr userDrawn="1"/>
        </p:nvSpPr>
        <p:spPr bwMode="auto"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514" y="40568"/>
                </a:moveTo>
                <a:lnTo>
                  <a:pt x="21514" y="40568"/>
                </a:lnTo>
                <a:cubicBezTo>
                  <a:pt x="3963" y="42915"/>
                  <a:pt x="-4610" y="40484"/>
                  <a:pt x="6823" y="6555"/>
                </a:cubicBezTo>
                <a:lnTo>
                  <a:pt x="6823" y="6555"/>
                </a:lnTo>
                <a:cubicBezTo>
                  <a:pt x="8022" y="2999"/>
                  <a:pt x="8781" y="646"/>
                  <a:pt x="8988" y="0"/>
                </a:cubicBezTo>
                <a:lnTo>
                  <a:pt x="8597" y="0"/>
                </a:lnTo>
                <a:lnTo>
                  <a:pt x="8597" y="0"/>
                </a:lnTo>
                <a:cubicBezTo>
                  <a:pt x="8597" y="0"/>
                  <a:pt x="7784" y="2374"/>
                  <a:pt x="6346" y="6641"/>
                </a:cubicBezTo>
                <a:lnTo>
                  <a:pt x="6346" y="6641"/>
                </a:lnTo>
                <a:cubicBezTo>
                  <a:pt x="-5238" y="41016"/>
                  <a:pt x="3448" y="43478"/>
                  <a:pt x="21229" y="41101"/>
                </a:cubicBezTo>
                <a:lnTo>
                  <a:pt x="21229" y="41101"/>
                </a:lnTo>
                <a:cubicBezTo>
                  <a:pt x="34825" y="39282"/>
                  <a:pt x="43200" y="37760"/>
                  <a:pt x="43200" y="37760"/>
                </a:cubicBezTo>
                <a:lnTo>
                  <a:pt x="43200" y="37295"/>
                </a:lnTo>
                <a:lnTo>
                  <a:pt x="43200" y="37295"/>
                </a:lnTo>
                <a:cubicBezTo>
                  <a:pt x="42075" y="37493"/>
                  <a:pt x="33948" y="38905"/>
                  <a:pt x="21514" y="40568"/>
                </a:cubicBezTo>
                <a:close/>
              </a:path>
            </a:pathLst>
          </a:custGeom>
          <a:solidFill>
            <a:schemeClr val="accent1"/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56945013" name="Title 1"/>
          <p:cNvSpPr>
            <a:spLocks noGrp="1"/>
          </p:cNvSpPr>
          <p:nvPr>
            <p:ph type="title"/>
          </p:nvPr>
        </p:nvSpPr>
        <p:spPr bwMode="auto">
          <a:xfrm>
            <a:off x="1187624" y="205979"/>
            <a:ext cx="7499176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3190842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48264" y="4767263"/>
            <a:ext cx="17385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	</a:t>
            </a:r>
            <a:fld id="{F8E3F0E9-0FC2-4DDE-87CF-3BA6A04EA4CC}" type="slidenum">
              <a:rPr lang="en-US"/>
              <a:t>‹#›</a:t>
            </a:fld>
            <a:endParaRPr lang="en-US"/>
          </a:p>
        </p:txBody>
      </p:sp>
      <p:sp>
        <p:nvSpPr>
          <p:cNvPr id="17911536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1214264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86EB4D43-F783-4E09-8208-6AA351DBC29B}" type="datetimeFigureOut">
              <a:rPr lang="en-US"/>
              <a:t>22.10.2013</a:t>
            </a:fld>
            <a:endParaRPr lang="en-US"/>
          </a:p>
        </p:txBody>
      </p:sp>
      <p:sp>
        <p:nvSpPr>
          <p:cNvPr id="51171381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44280" y="4767263"/>
            <a:ext cx="26719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 b="1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4061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CST 4215 PORTFOLIO</a:t>
            </a:r>
            <a:endParaRPr lang="en-US"/>
          </a:p>
        </p:txBody>
      </p:sp>
      <p:sp>
        <p:nvSpPr>
          <p:cNvPr id="1122924447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E-COMMERCE AMAZON DATASET</a:t>
            </a:r>
            <a:endParaRPr lang="en-US"/>
          </a:p>
        </p:txBody>
      </p:sp>
      <p:sp>
        <p:nvSpPr>
          <p:cNvPr id="422533409" name=""/>
          <p:cNvSpPr txBox="1"/>
          <p:nvPr/>
        </p:nvSpPr>
        <p:spPr bwMode="auto">
          <a:xfrm rot="0" flipH="0" flipV="0">
            <a:off x="895124" y="4385220"/>
            <a:ext cx="2749080" cy="64044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BY: </a:t>
            </a:r>
            <a:r>
              <a:rPr/>
              <a:t>M00778344</a:t>
            </a:r>
            <a:endParaRPr/>
          </a:p>
          <a:p>
            <a:pPr>
              <a:defRPr/>
            </a:pPr>
            <a:r>
              <a:rPr/>
              <a:t>MARCELINO F MARIWA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105038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Introduction to the Business Scenario</a:t>
            </a:r>
            <a:endParaRPr/>
          </a:p>
        </p:txBody>
      </p:sp>
      <p:sp>
        <p:nvSpPr>
          <p:cNvPr id="2124886316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site has excellent stats, but could always do better.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With more traffic , we could do better with the vendors sourcing better products,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Manufacturers kindersing towards what sells best, and more appealing towards the customers/consumers</a:t>
            </a: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7533972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26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Define the KPI, identify and investigate what  the scenario is all about. One of the KPIs is defined</a:t>
            </a:r>
            <a:endParaRPr sz="2600"/>
          </a:p>
        </p:txBody>
      </p:sp>
      <p:sp>
        <p:nvSpPr>
          <p:cNvPr id="1337707772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0000" lnSpcReduction="8000"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Using the provided dataset, products.csv we can find data on recent_purchases, price_value, rating_stars in which they could help predict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These points could help predict the frequency of new confirmed recent_purchases this will deal with confirmed purchase conversion index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Using availability, delivery_data, fastest_delivery_date, availability and price_value we could finally trap returning buyers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and know how much are they willing to pay more for the products since this focus will deal with the shipping velocity exclusive index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8623810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Form an Equation exdplaining the KPI</a:t>
            </a:r>
            <a:endParaRPr/>
          </a:p>
        </p:txBody>
      </p:sp>
      <p:sp>
        <p:nvSpPr>
          <p:cNvPr id="268837132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45000" lnSpcReduction="11000"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For the KPI of choice: index of cunsumer purchase, we require 3 variables all of which are weighted differently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recent_purchase: This is the variable that will determine if a consumer is a trend follower since this variable identifies the current trend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rating_stars: This is encoded towards the number of ratigs from 5 - 1 where by it will detemine if consumer is biased towards early adopters and money isn't a problem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price_value: This is encoded towards price tiers from expensive to cheapest, this will determine if the consumer cares about how much is spent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other variables to be considered is the time of receiving the package this could be very essential to returning clients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Since the trust is already established between vendor, platform and client. Fine tuning the service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4967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Importance of the KPI</a:t>
            </a:r>
            <a:endParaRPr/>
          </a:p>
        </p:txBody>
      </p:sp>
      <p:sp>
        <p:nvSpPr>
          <p:cNvPr id="1354794523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5000" lnSpcReduction="7000"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This KPI is sensitive towards the prediction / probability of new consumers that passby to browse, knowing exactly the key stats that will attract the consumer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Hence turning the consumer to a confired_purchase.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Since our whole scenario is targeted towards increase of confirmed purchase in order to fuel the R&amp;D of the manufacturers, and get enough feedback to promote or demote vendors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All in the name of protecting the brand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4257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DAta Profiling</a:t>
            </a:r>
            <a:endParaRPr/>
          </a:p>
        </p:txBody>
      </p:sp>
      <p:sp>
        <p:nvSpPr>
          <p:cNvPr id="1915348041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0000" lnSpcReduction="6000"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With the provided dataset, in this case 2 are provided, one for products and the other for reviews.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Our main focus the (y) is in the reviews, since our trget is turning random scrapers to confirmed_buyers, the reviewers help in letting us know.</a:t>
            </a:r>
            <a:endParaRPr lang="en-US" sz="32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Since in the Products dataset we have a rough idea on how many products are sold with the min. count being 50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533212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Methodology and Data preprocessing</a:t>
            </a:r>
            <a:endParaRPr/>
          </a:p>
        </p:txBody>
      </p:sp>
      <p:sp>
        <p:nvSpPr>
          <p:cNvPr id="1980304449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0000" lnSpcReduction="8000"/>
          </a:bodyPr>
          <a:lstStyle/>
          <a:p>
            <a:pPr>
              <a:defRPr/>
            </a:pPr>
            <a:r>
              <a:rPr/>
              <a:t>This case has two datasets, products.csv and Reviews.csv</a:t>
            </a:r>
            <a:endParaRPr/>
          </a:p>
          <a:p>
            <a:pPr>
              <a:defRPr/>
            </a:pPr>
            <a:r>
              <a:rPr/>
              <a:t>Both the data sets have primary_keys and foreign keys. With this it has been quite effective in joining them and makin sense of the data provided.</a:t>
            </a:r>
            <a:endParaRPr/>
          </a:p>
          <a:p>
            <a:pPr>
              <a:defRPr/>
            </a:pPr>
            <a:r>
              <a:rPr/>
              <a:t>Both Datasets were merged to achieve the main dataset that we have used to perform our Machine Learning, testing and training</a:t>
            </a:r>
            <a:endParaRPr/>
          </a:p>
          <a:p>
            <a:pPr>
              <a:defRPr/>
            </a:pPr>
            <a:r>
              <a:rPr/>
              <a:t>In the pre-processing new columns were created, img_cont, cont_rating, avg_rating, availability_grouped(encoded, availability column), number_of_clicks (processed breadcrumb column, this helped determine how precise a product was classified.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2963856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Apply the Model selecting and </a:t>
            </a:r>
            <a:endParaRPr lang="en-US" sz="2000" b="1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- 2-ML algos, to fit your features and how KPI is predicted with what is had</a:t>
            </a:r>
            <a:endParaRPr lang="en-US" sz="2000" b="1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- Model Training and evaluation</a:t>
            </a:r>
            <a:endParaRPr lang="en-US" sz="2000" b="1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	- Accuracy or precission</a:t>
            </a:r>
            <a:endParaRPr sz="2000"/>
          </a:p>
        </p:txBody>
      </p:sp>
      <p:sp>
        <p:nvSpPr>
          <p:cNvPr id="8410505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8398251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CArefull: using correlation test, detect data leakeage</a:t>
            </a:r>
            <a:endParaRPr/>
          </a:p>
        </p:txBody>
      </p:sp>
      <p:sp>
        <p:nvSpPr>
          <p:cNvPr id="185900340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2438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Utilize tables or chart</a:t>
            </a:r>
            <a:endParaRPr/>
          </a:p>
        </p:txBody>
      </p:sp>
      <p:pic>
        <p:nvPicPr>
          <p:cNvPr id="402036382" name=""/>
          <p:cNvPicPr>
            <a:picLocks noChangeAspect="1"/>
          </p:cNvPicPr>
          <p:nvPr>
            <p:ph idx="1"/>
          </p:nvPr>
        </p:nvPicPr>
        <p:blipFill rotWithShape="1">
          <a:blip r:embed="rId3"/>
          <a:stretch/>
        </p:blipFill>
        <p:spPr bwMode="auto">
          <a:xfrm rot="0">
            <a:off x="3839227" y="1200150"/>
            <a:ext cx="2195967" cy="3394471"/>
          </a:xfrm>
          <a:prstGeom prst="rect">
            <a:avLst/>
          </a:prstGeom>
        </p:spPr>
      </p:pic>
      <p:pic>
        <p:nvPicPr>
          <p:cNvPr id="53927486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685130" y="1200150"/>
            <a:ext cx="1836040" cy="19049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163324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Compare the Evaluatrion metrics</a:t>
            </a:r>
            <a:endParaRPr/>
          </a:p>
        </p:txBody>
      </p:sp>
      <p:sp>
        <p:nvSpPr>
          <p:cNvPr id="3356839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398003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Interpretation of various findings</a:t>
            </a:r>
            <a:endParaRPr lang="en-US" sz="2800" b="1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- Key drivers of the business indicators (KPI)</a:t>
            </a:r>
            <a:endParaRPr sz="2800"/>
          </a:p>
        </p:txBody>
      </p:sp>
      <p:sp>
        <p:nvSpPr>
          <p:cNvPr id="205925453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403877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Suggest next course of action</a:t>
            </a:r>
            <a:endParaRPr lang="en-US" sz="2800" b="1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8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- Based on the Driver and Key results</a:t>
            </a:r>
            <a:endParaRPr sz="2800"/>
          </a:p>
        </p:txBody>
      </p:sp>
      <p:sp>
        <p:nvSpPr>
          <p:cNvPr id="107125956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orn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Corn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avs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Oleg Korshul</dc:creator>
  <cp:lastModifiedBy/>
  <cp:revision>7</cp:revision>
  <dcterms:created xsi:type="dcterms:W3CDTF">2012-09-20T13:52:55Z</dcterms:created>
  <dcterms:modified xsi:type="dcterms:W3CDTF">2026-10-25T21:56:08Z</dcterms:modified>
</cp:coreProperties>
</file>