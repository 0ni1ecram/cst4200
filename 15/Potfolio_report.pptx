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-96" y="-660"/>
      </p:cViewPr>
      <p:guideLst>
        <p:guide pos="162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D6E705-0F09-58D6-FAD8-0222D928E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2B0B1-5E8F-202A-7754-8C0D6CB57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D2314B-6B01-9898-89AA-AE6B7D77C4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B30B0-4B45-6215-C41A-B082831ECC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3FBBAF-20B9-CCE8-36C0-C513E44F0A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6511CB-891F-78FD-B2AF-4E8079D02A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BCA86-4B4C-A642-55A8-846E768A94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1306A9-4752-EE7F-7BE6-8FF4D4F688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7E63F2-CDE7-4198-041E-787F416EDC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B38DD-C68D-67B2-A55F-8C4E302B7A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F5587D-7F8C-2325-ECCC-3D63EFCC23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9CCB22-45E0-7504-8CAC-825C7ECD3B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7C4D2-A28B-0A21-7EA0-3FE4129322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002461" name="Title 1"/>
          <p:cNvSpPr>
            <a:spLocks noGrp="1"/>
          </p:cNvSpPr>
          <p:nvPr>
            <p:ph type="ctrTitle"/>
          </p:nvPr>
        </p:nvSpPr>
        <p:spPr bwMode="auto">
          <a:xfrm>
            <a:off x="685800" y="1597819"/>
            <a:ext cx="7772400" cy="1102519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86447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253591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1868857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6566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6233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40270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22269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9225590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7091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25765" name="Title 1"/>
          <p:cNvSpPr>
            <a:spLocks noGrp="1"/>
          </p:cNvSpPr>
          <p:nvPr>
            <p:ph type="title"/>
          </p:nvPr>
        </p:nvSpPr>
        <p:spPr bwMode="auto"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2038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50974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0260266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2983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3526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9910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87624" y="1200151"/>
            <a:ext cx="3528392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56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932040" y="1200151"/>
            <a:ext cx="3754759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1531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2109684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50888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924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81728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87624" y="1151335"/>
            <a:ext cx="3528392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93046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187624" y="1631156"/>
            <a:ext cx="3528392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137863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860032" y="1151335"/>
            <a:ext cx="382676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15486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860032" y="1631156"/>
            <a:ext cx="382676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35779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5266409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4799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6144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465160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74461044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94060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8721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124720664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84979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31579" name="Title 1"/>
          <p:cNvSpPr>
            <a:spLocks noGrp="1"/>
          </p:cNvSpPr>
          <p:nvPr>
            <p:ph type="title"/>
          </p:nvPr>
        </p:nvSpPr>
        <p:spPr bwMode="auto">
          <a:xfrm>
            <a:off x="1187624" y="204787"/>
            <a:ext cx="2664295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031892" name="Content Placeholder 2"/>
          <p:cNvSpPr>
            <a:spLocks noGrp="1"/>
          </p:cNvSpPr>
          <p:nvPr>
            <p:ph idx="1"/>
          </p:nvPr>
        </p:nvSpPr>
        <p:spPr bwMode="auto">
          <a:xfrm>
            <a:off x="3995936" y="204788"/>
            <a:ext cx="4690864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83345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87624" y="1076326"/>
            <a:ext cx="2664295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24808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8034064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9974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013770" name="Title 1"/>
          <p:cNvSpPr>
            <a:spLocks noGrp="1"/>
          </p:cNvSpPr>
          <p:nvPr>
            <p:ph type="title"/>
          </p:nvPr>
        </p:nvSpPr>
        <p:spPr bwMode="auto">
          <a:xfrm>
            <a:off x="1187624" y="3600450"/>
            <a:ext cx="7488832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145555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187624" y="459581"/>
            <a:ext cx="7488832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155243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87624" y="4025503"/>
            <a:ext cx="7488832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73471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9109780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49394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7556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37252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38902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7556305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73250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53090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79"/>
            <a:ext cx="2057400" cy="4388644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75464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79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5784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7422389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99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0368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87624" y="1200151"/>
            <a:ext cx="7499176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9711949" name="Shape 1058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41968314" name="Shape 1059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</p:spPr>
      </p:sp>
      <p:sp>
        <p:nvSpPr>
          <p:cNvPr id="613454026" name="Shape 1060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8988942" name="Shape 1061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6250956" name="Shape 1062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60072204" name="Shape 1063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1334835" name="Shape 1064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1610425" name="Shape 1065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06719757" name="Shape 1066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2918639" name="Shape 1067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0971699" name="Shape 1068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6896558" name="Shape 1069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67814509" name="Shape 1070"/>
          <p:cNvSpPr>
            <a:spLocks noChangeArrowheads="1" noGrp="1"/>
          </p:cNvSpPr>
          <p:nvPr userDrawn="1"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47839704" name="Title 1"/>
          <p:cNvSpPr>
            <a:spLocks noGrp="1"/>
          </p:cNvSpPr>
          <p:nvPr>
            <p:ph type="title"/>
          </p:nvPr>
        </p:nvSpPr>
        <p:spPr bwMode="auto">
          <a:xfrm>
            <a:off x="1187624" y="205979"/>
            <a:ext cx="7499176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01190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948264" y="4767263"/>
            <a:ext cx="17385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 lang="en-US"/>
              <a:t>‹#›</a:t>
            </a:fld>
            <a:endParaRPr lang="en-US"/>
          </a:p>
        </p:txBody>
      </p:sp>
      <p:sp>
        <p:nvSpPr>
          <p:cNvPr id="6841249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214264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/>
              <a:t>22.10.2013</a:t>
            </a:fld>
            <a:endParaRPr lang="en-US"/>
          </a:p>
        </p:txBody>
      </p:sp>
      <p:sp>
        <p:nvSpPr>
          <p:cNvPr id="5420800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44280" y="4767263"/>
            <a:ext cx="26719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4754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CST 4215 PORTFOLIO</a:t>
            </a:r>
            <a:endParaRPr lang="en-US"/>
          </a:p>
        </p:txBody>
      </p:sp>
      <p:sp>
        <p:nvSpPr>
          <p:cNvPr id="103354953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E-COMMERCE AMAZON DATASET</a:t>
            </a:r>
            <a:endParaRPr lang="en-US"/>
          </a:p>
        </p:txBody>
      </p:sp>
      <p:sp>
        <p:nvSpPr>
          <p:cNvPr id="422533409" name=""/>
          <p:cNvSpPr txBox="1"/>
          <p:nvPr/>
        </p:nvSpPr>
        <p:spPr bwMode="auto">
          <a:xfrm rot="0" flipH="0" flipV="0">
            <a:off x="895124" y="4385220"/>
            <a:ext cx="2749080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BY: </a:t>
            </a:r>
            <a:r>
              <a:rPr/>
              <a:t>M00778344</a:t>
            </a:r>
            <a:endParaRPr/>
          </a:p>
          <a:p>
            <a:pPr>
              <a:defRPr/>
            </a:pPr>
            <a:r>
              <a:rPr/>
              <a:t>MARCELINO F MARIWA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10503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Introduction to the Business Scenario</a:t>
            </a:r>
            <a:endParaRPr/>
          </a:p>
        </p:txBody>
      </p:sp>
      <p:sp>
        <p:nvSpPr>
          <p:cNvPr id="212488631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site has excellent stats, but could always do better.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more traffic , we could do better with the vendors sourcing better products,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Manufacturers kindersing towards what sells best, and more appealing towards the customers/consumers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53397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Define the KPI, identify and investigate what  the scenario is all about. One of the KPIs is defined</a:t>
            </a:r>
            <a:endParaRPr sz="2600"/>
          </a:p>
        </p:txBody>
      </p:sp>
      <p:sp>
        <p:nvSpPr>
          <p:cNvPr id="133770777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Using the provided dataset, products.csv we can find data on recent_purchases, price_value, rating_stars in which they could help predict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points could help predict the frequency of new confirmed recent_purchases this will deal with confirmed purchase conversion index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Using availability, delivery_data, fastest_delivery_date, availability and price_value we could finally trap returning buyers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and know how much are they willing to pay more for the products since this focus will deal with the shipping velocity exclusive index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623810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Form an Equation exdplaining the KPI</a:t>
            </a:r>
            <a:endParaRPr/>
          </a:p>
        </p:txBody>
      </p:sp>
      <p:sp>
        <p:nvSpPr>
          <p:cNvPr id="26883713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45000" lnSpcReduction="11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the KPI of choice: index of cunsumer purchase, we require 3 variables all of which are weighted differently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recent_purchase: This is the variable that will determine if a consumer is a trend follower since this variable identifies the current trend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rating_stars: This is encoded towards the number of ratigs from 5 - 1 where by it will detemine if consumer is biased towards early adopters and money isn't a problem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price_value: This is encoded towards price tiers from expensive to cheapest, this will determine if the consumer cares about how much is spent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other variables to be considered is the time of receiving the package this could be very essential to returning clients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Since the trust is already established between vendor, platform and client. Fine tuning the service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4967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Importance of the KPI</a:t>
            </a:r>
            <a:endParaRPr/>
          </a:p>
        </p:txBody>
      </p:sp>
      <p:sp>
        <p:nvSpPr>
          <p:cNvPr id="135479452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KPI is sensitive towards the prediction / probability of new consumers that passby to browse, knowing exactly the key stats that will attract the consumer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Hence turning the consumer to a confired_purchase.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Since our whole scenario is targeted towards increase of confirmed purchase in order to fuel the R&amp;D of the manufacturers, and get enough feedback to promote or demote vendors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All in the name of protecting the brand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25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Profiling</a:t>
            </a:r>
            <a:endParaRPr/>
          </a:p>
        </p:txBody>
      </p:sp>
      <p:sp>
        <p:nvSpPr>
          <p:cNvPr id="191534804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the provided dataset, in this case 2 are provided, one for products and the other for reviews.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Our main focus the (y) is in the reviews, since our trget is turning random scrapers to confirmed_buyers, the reviewers help in letting us know.</a:t>
            </a:r>
            <a:endParaRPr lang="en-US" sz="3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Since in the Products dataset we have a rough idea on how many products are sold with the min. count being 50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3321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Methodology and Data preprocessing</a:t>
            </a:r>
            <a:endParaRPr/>
          </a:p>
        </p:txBody>
      </p:sp>
      <p:sp>
        <p:nvSpPr>
          <p:cNvPr id="198030444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/>
              <a:t>This case has two datasets, products.csv and Reviews.csv</a:t>
            </a:r>
            <a:endParaRPr/>
          </a:p>
          <a:p>
            <a:pPr>
              <a:defRPr/>
            </a:pPr>
            <a:r>
              <a:rPr/>
              <a:t>Both the data sets have primary_keys and foreign keys. With this it has been quite effective in joining them and makin sense of the data provided.</a:t>
            </a:r>
            <a:endParaRPr/>
          </a:p>
          <a:p>
            <a:pPr>
              <a:defRPr/>
            </a:pPr>
            <a:r>
              <a:rPr/>
              <a:t>Both Datasets were merged to achieve the main dataset that we have used to perform our Machine Learning, testing and training</a:t>
            </a:r>
            <a:endParaRPr/>
          </a:p>
          <a:p>
            <a:pPr>
              <a:defRPr/>
            </a:pPr>
            <a:r>
              <a:rPr/>
              <a:t>In the pre-processing new columns were created, img_cont, cont_rating, avg_rating, availability_grouped(encoded, availability column), number_of_clicks (processed breadcrumb column, this helped determine how precise a product was classified, CCV_score (logrithmic value).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963856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Apply the Model selecting and 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- 2-ML algos, to fit your features and how KPI is predicted with what is had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Model Training and evaluation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- Accuracy or precission</a:t>
            </a:r>
            <a:endParaRPr sz="2000"/>
          </a:p>
        </p:txBody>
      </p:sp>
      <p:sp>
        <p:nvSpPr>
          <p:cNvPr id="841050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39825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CArefull: using correlation test, detect data leakeage</a:t>
            </a:r>
            <a:endParaRPr/>
          </a:p>
        </p:txBody>
      </p:sp>
      <p:sp>
        <p:nvSpPr>
          <p:cNvPr id="18590034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243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Utilize tables or chart</a:t>
            </a:r>
            <a:endParaRPr/>
          </a:p>
        </p:txBody>
      </p:sp>
      <p:pic>
        <p:nvPicPr>
          <p:cNvPr id="40203638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839227" y="1200150"/>
            <a:ext cx="2195967" cy="3394471"/>
          </a:xfrm>
          <a:prstGeom prst="rect">
            <a:avLst/>
          </a:prstGeom>
        </p:spPr>
      </p:pic>
      <p:pic>
        <p:nvPicPr>
          <p:cNvPr id="53927486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685130" y="1200150"/>
            <a:ext cx="1836040" cy="1904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16332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Compare the Evaluatrion metrics</a:t>
            </a:r>
            <a:endParaRPr/>
          </a:p>
        </p:txBody>
      </p:sp>
      <p:sp>
        <p:nvSpPr>
          <p:cNvPr id="335683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39800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Interpretation of various findings</a:t>
            </a:r>
            <a:endParaRPr lang="en-US" sz="2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Key drivers of the business indicators (KPI)</a:t>
            </a:r>
            <a:endParaRPr sz="2800"/>
          </a:p>
        </p:txBody>
      </p:sp>
      <p:sp>
        <p:nvSpPr>
          <p:cNvPr id="20592545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403877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Suggest next course of action</a:t>
            </a:r>
            <a:endParaRPr lang="en-US" sz="2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Based on the Driver and Key results</a:t>
            </a:r>
            <a:endParaRPr sz="2800"/>
          </a:p>
        </p:txBody>
      </p:sp>
      <p:sp>
        <p:nvSpPr>
          <p:cNvPr id="10712595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avs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Oleg Korshul</dc:creator>
  <cp:lastModifiedBy/>
  <cp:revision>7</cp:revision>
  <dcterms:created xsi:type="dcterms:W3CDTF">2012-09-20T13:52:55Z</dcterms:created>
  <dcterms:modified xsi:type="dcterms:W3CDTF">2026-10-27T19:17:09Z</dcterms:modified>
</cp:coreProperties>
</file>